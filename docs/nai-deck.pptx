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731520"/>
            <a:ext cx="1463040" cy="1463040"/>
          </a:xfrm>
          <a:prstGeom prst="ellipse">
            <a:avLst/>
          </a:prstGeom>
          <a:solidFill>
            <a:srgbClr val="2E4373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DEMO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de IA sobre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demostrativa de IA sobre infraestructura on-premise — teoría, demos y modelo de costos.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Edguitar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Comercial Nutanix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pPr indent="0" marL="0">
              <a:buNone/>
            </a:pPr>
            <a:r>
              <a:rPr lang="en-US" sz="14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Quizamán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Arquitecto de soluciones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2026  ·  Para presentaciones a universidades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deck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el comercial salga listo en 30 minutos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657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64008" cy="384048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59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construyó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demos funcionales corriendo en producción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TypeScript completo, listo para NAI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ADRs documentando cada decisión técnica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tests pasando en cada deploy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194560"/>
            <a:ext cx="3657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194560"/>
            <a:ext cx="64008" cy="384048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359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con analogías de la vida cotidiana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visualizada en una sola página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demo con audiencia objetivo clara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jerga técnica sin contexto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219456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194560"/>
            <a:ext cx="64008" cy="384048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cuesta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49640" y="274320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implementación por demo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 requeridos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calendario detallados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1 año vs alternativas cloud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veremos hoy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bloques temáticos de la presentación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91640" y="21031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fundamentales con analogías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332720" y="2103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slides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80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91640" y="28803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rol de NAI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332720" y="2880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slides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576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91640" y="36576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demos en detalle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332720" y="36576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4348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691640" y="44348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costos, recursos y tiempos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332720" y="44348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slides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2120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691640" y="5212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comercial y próximos pasos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332720" y="52120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slides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CONCEPTOS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LLM?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lenguaje pre-entrenado con miles de millones de parámetros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778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entrenada con grandes cantidades de texto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la siguiente palabra dado el contexto previo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referencia: Claude Sonnet, Llama 3, Mistral, GPT-4o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memoriza datos específicos: razona sobre patrones del lenguaje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útil aparece cuando le das el contexto adecuado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95728"/>
            <a:ext cx="411480" cy="41148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3591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que leyó toda internet pero no recuerda nada específico hasta que tú le entregas el documento concreto. Tu trabajo es darle el contexto correcto.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contexto, el LLM responde genérico. Con tus documentos, responde como un experto del campus.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CONCEPTOS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— la unidad de cobro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Sub-palabras que el modelo procesa una a una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778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~4 caracteres por token en español/inglés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PDF de 10 páginas equivale aproximadamente a 5.000 tokens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entrada (prompt) y de salida (respuesta) se cobran por separado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Sonnet: USD 3 / millón input + USD 15 / millón output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 calculator de los demos los cuenta en tiempo real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95728"/>
            <a:ext cx="411480" cy="41148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3591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Monedas en una máquina expendedora. Cada frase cuesta unas pocas monedas; un reporte largo cuesta varias decenas. La factura es la suma.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insumo que se factura en la nube. En NAI on-prem, los tokens son gratuitos porque el hardware ya está pagado.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CONCEPTOS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 de darle al modelo instrucciones claras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778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rol e instrucciones generales (lo decide el desarrollador)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prompt: la pregunta concreta del usuario en la app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duras al inicio del prompt para que el modelo las respete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one-shot bajan la varianza de los modelos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Demo 05 usa persona prompts por nivel CEFR y escenario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95728"/>
            <a:ext cx="411480" cy="41148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3591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Darle instrucciones claras a un asistente nuevo el primer día: cómo saludar, qué tono usar, qué información NO compartir. Sin instrucciones, improvisa.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 cuidado mejora la respuesta sin necesidad de re-entrenar. Es la palanca más barata para subir calidad.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CONCEPTOS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— vectores de significado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texto en coordenadas numéricas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778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texto se convierte en un vector de 1536 números (con OpenAI)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con significado parecido viven cerca en ese espacio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una vez al indexar el documento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embeddings es distinto del LLM conversacional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usado: text-embedding-3-small de OpenAI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95728"/>
            <a:ext cx="411480" cy="41148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3591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para palabras. Cada concepto tiene coordenadas en un mapa. 'Matrícula' y 'inscripción' viven a una cuadra. 'Matrícula' y 'cocina' están en otra ciudad.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Habilitan búsqueda por significado: el cliente pregunta con sus palabras y el sistema entiende.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CONCEPTOS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 vs Ctrl+F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lo que importa, aunque no esté literal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778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Ctrl+F: busca cadenas exactas de caracteres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Semántica: busca proximidad de significado en el vector space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similitud coseno (0 = no se parecen, 1 = idénticos)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'horario de matrícula' encuentra 'período de inscripción' aunque las palabras no coincidan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del Demo 01 (RAG) y del Demo 03 (Corpus)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95728"/>
            <a:ext cx="411480" cy="41148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3591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Ctrl+F es buscar 'Pedro' en una guía telefónica. Semántica es preguntar 'el plomero del barrio' y recibir el contacto de Pedro porque sabe que él lo 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final no necesita aprender keywords. Pregunta como hablaría con un colega.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CONCEPTOS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— vectores dentro de Postgres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que convierte Postgres en una base vectorial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778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 de datos: documentos + vectores + audit log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columna nativo: vector(1536)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IVFFlat o HNSW para búsquedas rápidas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SQL para distancia: &lt;-&gt; (L2), &lt;#&gt; (inner product), &lt;=&gt; (coseno)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a Pinecone, Weaviate, Qdrant — sin servidor adicional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95728"/>
            <a:ext cx="411480" cy="41148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3591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archivero de Postgres que en lugar de ordenar alfabéticamente, ordena por significado. Le pides 'lo parecido a X' y te trae la carpeta correcta.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infraestructura extra. Si ya hablas Postgres, ya hablas pgvector. ADR-0005 explica por qué no Pinecone.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CONCEPTOS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— partir el documento en pedazos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puede leer un libro entero de una vez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778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modelo es limitado (ej. 200K tokens en Sonnet)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largos se cortan en fragmentos de 300-800 tokens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fragmento se embebe y se indexa por separado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Estrategias: por párrafo, ventana deslizante, separadores semánticos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más fino el chunk, más precisa la cita; menos contexto cada uno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95728"/>
            <a:ext cx="411480" cy="41148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3591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un libro en páginas. Si llegas a la biblioteca y dices 'búscame todo el libro', es ineficiente. Si dices 'búscame esa página', es directo.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pieza que decide la calidad de las citas. Chunks muy grandes traen ruido; muy chicos pierden contexto.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CONCEPTOS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Retrieval Augmented Generation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que combina búsqueda y generación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chunks → embeddings → pgvector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2651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34840" y="219456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331720"/>
            <a:ext cx="457200" cy="45720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9260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→ embedding → top-K chunks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2651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21040" y="219456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2331720"/>
            <a:ext cx="457200" cy="45720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9828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49640" y="29260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+ pregunta → prompt → LLM → respuesta con citas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315968"/>
            <a:ext cx="411480" cy="41148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42793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con apuntes. En lugar de memorizar todo el libro, abre el cuaderno en la página relevante y compone la respuesta a partir de eso. Si la respuesta es ambigua, vuelve al cuaderno.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evita re-entrenar el modelo con datos del cliente. Indexar lleva minutos, no semanas. Cero riesgo de 'olvido' del modelo.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CONCEPTOS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 — respuesta en vivo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sobre HTTP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778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envía la respuesta token por token mientras la genera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la renderiza al instante, sin esperar al final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HTTP nativo, soporte universal en browsers modernos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percepción de velocidad y mantiene la atención del usuario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usado en los 5 demos para todas las respuestas del LLM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95728"/>
            <a:ext cx="411480" cy="41148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3591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Subtítulos en vivo de una conferencia. Ves las palabras aparecer mientras se hablan. Si tuvieras que esperar a que termine la frase, perderías el momento.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percibe la app rápida aunque el LLM tarde varios segundos. Es lo que diferencia 'usable' de 'lenta'.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CONCEPTOS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— el LLM con herramientas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el modelo invoca código que tú controlas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778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decide cuándo necesita una herramienta y cuál usar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ejecuta el código (consulta SQL, búsqueda web, etc.)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vuelve al modelo que compone la respuesta natural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 el Demo 04: el agente genera SQL y se valida + ejecuta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estricto: solo SELECT permitido, sin UPDATE / DELETE / DROP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95728"/>
            <a:ext cx="411480" cy="41148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3591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 calculadora. Cuando le preguntas '¿cuánto es 23×47?', no lo calcula mental; abre la calculadora, copia el resultado y te lo explica.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el modelo trabaje con datos vivos. No inventa números: ejecuta queries reales y los traduce a lenguaje natural.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CONCEPTOS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— voz nativa del browser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y síntesis de voz, sin servicios externos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778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SpeechRecognition: el browser transcribe lo que dice el usuario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SpeechSynthesis: el browser lee texto en voz alta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y Safari lo soportan estable; Firefox parcial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costo variable, cero dependencia de cloud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 el Demo 05 (tutor de inglés conversacional)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95728"/>
            <a:ext cx="411480" cy="41148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3591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ya tiene un dictáfono y un narrador adentro. Es como descubrir que tu calculadora siempre tuvo función científica; sólo había que activarla.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 el discurso on-prem: si todo corre local, sumar Whisper o ElevenLabs sería incoherente.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CONCEPTOS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 — Architecture Decision Records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técnica importante queda registrada con su razón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778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ADRs en el repositorio cubren las decisiones clave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simple: contexto, decisión, alternativas, consecuencias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Auditable: cualquier persona entiende por qué se eligió X y no 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ADR-0004 LLMAdapter, ADR-0005 pgvector, ADR-0011 Demo 03 TS, ADR-0012 Demo 05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Sobreviven a la rotación del equipo: el nuevo dev se pone al día leyéndolos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95728"/>
            <a:ext cx="411480" cy="411480"/>
          </a:xfrm>
          <a:prstGeom prst="ellipse">
            <a:avLst/>
          </a:prstGeom>
          <a:solidFill>
            <a:srgbClr val="43C1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3591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del arquitecto. Nadie puede preguntar dentro de 6 meses '¿por qué hicimos esto así?' sin tener la respuesta escrita y con fecha.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una venta institucional vale oro: el cliente ve madurez y trazabilidad, no improvisación.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ARQUITECTURA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 on-premise vs LLM en la nube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dimensiones de comparación honesta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cloud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 on-prem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6517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viajan a OpenAI / Anthropic / Microsoft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0" y="2651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nunca salen del data center del cliente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064240" cy="868680"/>
          </a:xfrm>
          <a:prstGeom prst="rect">
            <a:avLst/>
          </a:prstGeom>
          <a:solidFill>
            <a:srgbClr val="FAF8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20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 escala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35204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por token, factura crece con cada usuario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3520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fijo del hardware, USD 0 por consulta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43891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decide qué modelos y cuándo cambian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43891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eliges el modelo open-source y cuándo actualizar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solidFill>
            <a:srgbClr val="FAF8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49040" y="52578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Sujeta a internet, regiones del proveedor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0" y="52578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local del campus, baja y predecible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ARQUITECTURA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TypeScript actual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línea separa Anthropic hoy de NAI mañana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3774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2377440" cy="7315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2286000"/>
            <a:ext cx="23774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286000"/>
            <a:ext cx="2377440" cy="7315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33375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2286000"/>
            <a:ext cx="23774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2286000"/>
            <a:ext cx="2377440" cy="7315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52160" y="33375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2286000"/>
            <a:ext cx="3291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2286000"/>
            <a:ext cx="3291840" cy="7315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LLMAdapter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0" y="33375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 hoy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 on-prem mañana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env var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44368" y="32004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04688" y="32004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065008" y="32004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937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 — el corazón de datos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chunks, vectores de embeddings, datos académicos del Demo 04 y audit logs viven en la misma base de datos. Una sola pieza de infraestructura para administrar.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ARQUITECTURA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LLMAdapter — el patrón clave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cambio de variable de entorno mueve TODO de Anthropic a NAI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029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patrón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llamada al LLM pasa por una interfaz única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de negocio nunca llaman SDK directo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proveedor = cambio de implementación, no de lógica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suite cubre el contrato, no el proveedor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ADR-0004 documenta la decisión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2286000"/>
            <a:ext cx="5760720" cy="34747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C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apps/api/.env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2834640"/>
            <a:ext cx="5486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C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DESARROLLO con Anthropic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CHAT_PROVIDER=</a:t>
            </a:r>
            <a:pPr indent="0" marL="0">
              <a:buNone/>
            </a:pPr>
            <a:r>
              <a:rPr lang="en-US" sz="1200" dirty="0">
                <a:solidFill>
                  <a:srgbClr val="43C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CHAT_MODEL=</a:t>
            </a:r>
            <a:pPr indent="0" marL="0">
              <a:buNone/>
            </a:pPr>
            <a:r>
              <a:rPr lang="en-US" sz="1200" dirty="0">
                <a:solidFill>
                  <a:srgbClr val="43C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3C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PRODUCCIÓN con 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CHAT_PROVIDER=</a:t>
            </a:r>
            <a:pPr indent="0" marL="0">
              <a:buNone/>
            </a:pPr>
            <a:r>
              <a:rPr lang="en-US" sz="1200" dirty="0">
                <a:solidFill>
                  <a:srgbClr val="43C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openai-compat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CHAT_BASE_URL=</a:t>
            </a:r>
            <a:pPr indent="0" marL="0">
              <a:buNone/>
            </a:pPr>
            <a:r>
              <a:rPr lang="en-US" sz="1200" dirty="0">
                <a:solidFill>
                  <a:srgbClr val="43C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http://nai-local:8080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CHAT_MODEL=</a:t>
            </a:r>
            <a:pPr indent="0" marL="0">
              <a:buNone/>
            </a:pPr>
            <a:r>
              <a:rPr lang="en-US" sz="1200" dirty="0">
                <a:solidFill>
                  <a:srgbClr val="43C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llama-3.1-70b-instruct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solidFill>
            <a:srgbClr val="D8F0E6"/>
          </a:solidFill>
          <a:ln w="6350">
            <a:solidFill>
              <a:srgbClr val="43C1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líneas de código de negocio cambian. La promesa comercial del switch a NAI vive en el código, no en la presentación.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ARQUITECTURA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mock → producción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código, dos configuraciones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257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5257800" cy="5029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+ OpenAI embeddings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CHAT_PROVIDER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4472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74904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CHAT_MODEL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9502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25196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EMBEDDINGS_PROVIDER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44531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EMBEDDINGS_MODEL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49560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text-embedding-3-small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25780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54589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postgres://localhost:5432/dev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2194560"/>
            <a:ext cx="5257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2194560"/>
            <a:ext cx="5257800" cy="502920"/>
          </a:xfrm>
          <a:prstGeom prst="rect">
            <a:avLst/>
          </a:prstGeom>
          <a:solidFill>
            <a:srgbClr val="2A8F6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2402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NAI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27889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en hardware Nutanix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24612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CHAT_PROVIDER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34472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openai-compat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74904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CHAT_BASE_URL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0" y="39502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http://nai-local:8080/v1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425196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CHAT_MODEL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44531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meta/llama-3.1-70b-instruct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475488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EMBEDDINGS_BASE_URL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0" y="49560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http://nai-local:8080/v1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525780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54589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postgres://nai-db.local/prod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ARQUITECTURA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 Python con FastAPI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entra y para qué tareas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 hoy / mañana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de demos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2651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(NestJS)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2651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principal, streaming SSE nativo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1106424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54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básico de PDFs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3154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3154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para documentos limpios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57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PDFs escaneados / OCR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3657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(futuro)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3657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PyMuPDF, pdfplumber, Tesseract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106424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60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vía API NAI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4160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(LLMAdapter)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160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 el adapter actual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663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con modelos locales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4663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(futuro)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4663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sentence-transformers, GPU local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166360"/>
            <a:ext cx="1106424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166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batch masivo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5166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(futuro)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5166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asyncio, paralelismo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669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/ SQL del Demo 04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5669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5669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+ Prisma + guard SQL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ARQUITECTURA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compliance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capas de protección desde el código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32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73152" cy="1828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el campus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embeddings y consultas viven en el data center del cliente. NAI corre en el hardware Nutanix. Cero llamadas a cloud externo.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2194560"/>
            <a:ext cx="5532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2194560"/>
            <a:ext cx="73152" cy="1828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de cada query del agente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8803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AgentQuery registra pregunta, SQL generado, filas devueltas, duración y resultado. Trazabilidad completa para auditoría.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532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06240"/>
            <a:ext cx="73152" cy="1828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891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guard (solo SELECT)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del Demo 04 solo puede generar SELECT. UPDATE, DELETE, DROP, INSERT — bloqueados en el validador antes de ejecutar.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206240"/>
            <a:ext cx="5532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4206240"/>
            <a:ext cx="73152" cy="1828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3891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para staging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5080" y="48920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la app está en preview deploy, requiere usuario y contraseña. Rotables vía variable de entorno. Producción usa SSO institucional.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DEMO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01 — Chat con documentos institucionales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sobre el reglamento como si hablaras con su autor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731520"/>
          </a:xfrm>
          <a:prstGeom prst="rect">
            <a:avLst/>
          </a:prstGeom>
          <a:solidFill>
            <a:srgbClr val="D8F0E6"/>
          </a:solidFill>
          <a:ln w="6350">
            <a:solidFill>
              <a:srgbClr val="43C1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OBJETIVO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Universidades, RRHH, áreas legales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440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240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RESUELVE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2487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información en documentos largos sin leerlos enteros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1064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00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TÉCNICAMENTE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sube PDF (reglamento, manual, contrato)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indexa: chunking → embeddings → pgvector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en lenguaje natural → búsqueda semántica → respuesta con citas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cita el artículo o fragmento exacto del documento original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440680" cy="1143000"/>
          </a:xfrm>
          <a:prstGeom prst="rect">
            <a:avLst/>
          </a:prstGeom>
          <a:solidFill>
            <a:srgbClr val="D8F0E6"/>
          </a:solidFill>
          <a:ln w="6350">
            <a:solidFill>
              <a:srgbClr val="43C1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organización con manuales, reglamentos o políticas que el equipo consulta seguido pero raramente lee completos.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983480"/>
            <a:ext cx="5440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NO 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5349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donde el documento cambia cada semana sin re-indexar. Tampoco para razonar sobre tablas complejas en PDFs escaneados.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DEMO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02 — Comparador de contratos y políticas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lado a lado de 2 a 5 documentos sobre dimensiones que tú defines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731520"/>
          </a:xfrm>
          <a:prstGeom prst="rect">
            <a:avLst/>
          </a:prstGeom>
          <a:solidFill>
            <a:srgbClr val="D8F0E6"/>
          </a:solidFill>
          <a:ln w="6350">
            <a:solidFill>
              <a:srgbClr val="43C1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OBJETIVO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compras, auditoría, secretaría general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440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240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RESUELVE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2487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diferencias entre versiones u ofertas en pocos minutos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1064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00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TÉCNICAMENTE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2 a 5 documentos previamente indexados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define las dimensiones a comparar (plazos, penalizaciones, garantías)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extrae lo relevante de cada documento por dimensión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tabla comparativa con frases textuales y fuentes citadas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440680" cy="1143000"/>
          </a:xfrm>
          <a:prstGeom prst="rect">
            <a:avLst/>
          </a:prstGeom>
          <a:solidFill>
            <a:srgbClr val="D8F0E6"/>
          </a:solidFill>
          <a:ln w="6350">
            <a:solidFill>
              <a:srgbClr val="43C1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que reciben pliegos, ofertas, contratos similares y necesitan acelerar el análisis inicial sin reemplazar el criterio humano.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983480"/>
            <a:ext cx="5440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NO 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5349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 que requieren cálculo financiero complejo o validación numérica precisa: para eso, hoja de cálculo.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DEMO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03 — Analizador de corpus académico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tendencias en colecciones de tesis y papers ecuatorianos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731520"/>
          </a:xfrm>
          <a:prstGeom prst="rect">
            <a:avLst/>
          </a:prstGeom>
          <a:solidFill>
            <a:srgbClr val="D8F0E6"/>
          </a:solidFill>
          <a:ln w="6350">
            <a:solidFill>
              <a:srgbClr val="43C1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OBJETIVO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Vicerrectorado de investigación, posgrado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440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240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RESUELVE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2487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qué está investigando la institución sin leer cada paper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1064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00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TÉCNICAMENTE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batch de PDFs académicos (uno por uno para sortear límites de upload)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automática de metadata: título, año, autores, tópicos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agregadas: papers por año, tópicos dominantes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 + resumen ejecutivo del estado del arte vía map-reduce LLM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440680" cy="1143000"/>
          </a:xfrm>
          <a:prstGeom prst="rect">
            <a:avLst/>
          </a:prstGeom>
          <a:solidFill>
            <a:srgbClr val="D8F0E6"/>
          </a:solidFill>
          <a:ln w="6350">
            <a:solidFill>
              <a:srgbClr val="43C1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que evalúan producción académica, ejes temáticos emergentes, o auditoría de cobertura curricular sobre 50-100 papers.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983480"/>
            <a:ext cx="5440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NO 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5349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de miles de papers — para eso entra Python con embeddings locales (ver ADR-0011, sprint Demo 03).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DEMO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04 — Agente con acceso a datos académicos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en español sobre la base académica y obtén una respuesta natural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731520"/>
          </a:xfrm>
          <a:prstGeom prst="rect">
            <a:avLst/>
          </a:prstGeom>
          <a:solidFill>
            <a:srgbClr val="D8F0E6"/>
          </a:solidFill>
          <a:ln w="6350">
            <a:solidFill>
              <a:srgbClr val="43C1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OBJETIVO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CIO, rectorado, dirección académica, planeamiento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440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240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RESUELVE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2487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analíticas en lenguaje natural sin escribir 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1064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00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TÉCNICAMENTE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académica mock: 50 estudiantes × 10 cursos × 1.700 calificaciones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genera SQL desde la pregunta del usuario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estricto: solo SELECT permitido, validado antes de ejecutar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ejecuta y el LLM compone la respuesta natural con el resultado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440680" cy="1143000"/>
          </a:xfrm>
          <a:prstGeom prst="rect">
            <a:avLst/>
          </a:prstGeom>
          <a:solidFill>
            <a:srgbClr val="D8F0E6"/>
          </a:solidFill>
          <a:ln w="6350">
            <a:solidFill>
              <a:srgbClr val="43C1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directivos que necesitan respuestas operativas sin esperar al data analyst para cada consulta puntual.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983480"/>
            <a:ext cx="5440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NO 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5349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estadísticos serios, dashboards de KPI, o queries con joins muy complejos — eso sigue siendo trabajo del analista.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DEMO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05 — Tutor de inglés + calculadora de costo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demo cuya pieza diferenciadora es el costo, no la privacidad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731520"/>
          </a:xfrm>
          <a:prstGeom prst="rect">
            <a:avLst/>
          </a:prstGeom>
          <a:solidFill>
            <a:srgbClr val="D8F0E6"/>
          </a:solidFill>
          <a:ln w="6350">
            <a:solidFill>
              <a:srgbClr val="43C1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OBJETIVO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 idiomas universitarios, capacitación corporativa, CIO evaluando build vs buy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440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240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RESUELVE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2487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al cliente el caso de negocio 'on-prem vs cloud' con un número en pantalla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1064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00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TÉCNICAMENTE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conversacional con corrección de gramática y léxico vía persona prompts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por voz nativa del browser (Web Speech API), sin servicios externos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con tokens reales contados por el LLMAdapter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semestre: alumnos × sesiones × semanas → costo Anthropic vs NAI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440680" cy="1143000"/>
          </a:xfrm>
          <a:prstGeom prst="rect">
            <a:avLst/>
          </a:prstGeom>
          <a:solidFill>
            <a:srgbClr val="D8F0E6"/>
          </a:solidFill>
          <a:ln w="6350">
            <a:solidFill>
              <a:srgbClr val="43C1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que están evaluando comprar Loora o ELSA Speak Enterprise y quieren ver la cuenta vs construir on-prem.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983480"/>
            <a:ext cx="5440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NO 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5349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fonética profunda estilo ELSA — eso es un modelo dedicado, no un LLM general.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COSTOS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costos — resumen ejecutivo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categorías que el cliente debe entender desde el inicio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2918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3291840" cy="9144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23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inicial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vez · CapEx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los demos sobre el hardware del cliente.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QA, integración y puesta en producción.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2926080" cy="1280160"/>
          </a:xfrm>
          <a:prstGeom prst="rect">
            <a:avLst/>
          </a:prstGeom>
          <a:solidFill>
            <a:srgbClr val="D8F0E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754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37–59 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" y="5486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demos completos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2194560"/>
            <a:ext cx="32918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194560"/>
            <a:ext cx="3291840" cy="9144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423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mensual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 · OpEx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324612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Mantenimiento, soporte L1, ajustes de prompts.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 on-prem: USD 0 variable por consulta.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4663440"/>
            <a:ext cx="2926080" cy="1280160"/>
          </a:xfrm>
          <a:prstGeom prst="rect">
            <a:avLst/>
          </a:prstGeom>
          <a:solidFill>
            <a:srgbClr val="D8F0E6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754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1.5–3 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17720" y="5486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21040" y="2194560"/>
            <a:ext cx="32918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194560"/>
            <a:ext cx="3291840" cy="9144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25" name="Text 23"/>
          <p:cNvSpPr/>
          <p:nvPr/>
        </p:nvSpPr>
        <p:spPr>
          <a:xfrm>
            <a:off x="8549640" y="2423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opcionales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4964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 flexible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49640" y="324612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demos verticales, integraciones LMS, ajustes de modelo, dashboards de uso.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2926080" cy="1280160"/>
          </a:xfrm>
          <a:prstGeom prst="rect">
            <a:avLst/>
          </a:prstGeom>
          <a:solidFill>
            <a:srgbClr val="D8F0E6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754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503920" y="5486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hora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COSTOS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implementación inicial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por demo · USD basados en tarifa LATAM senior 50–80/h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QA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USD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01 — Chat con documentos (RAG)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651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2651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LMS opcional 10h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$ 7.000–11.000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1106424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154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02 — Comparador de contratos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154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$ 5.000–8.000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03 — Corpus académico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3657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100–150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657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Python futura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$ 8.000–13.000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160520"/>
            <a:ext cx="1106424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160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04 — Agente con SQL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4160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120–180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4160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mapping del cliente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$ 10.000–16.000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663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05 — Tutor de inglés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4663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80–120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35040" y="4663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0" y="4663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nativa del browser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01200" y="4663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$ 7.000–11.000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4406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completa con los 5 demos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869680" y="5440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$ 37.000 – 59.000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COSTOS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 requeridos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entra al proyecto, cuándo y por cuánto tiempo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48840"/>
            <a:ext cx="73152" cy="685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21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 de soluciones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4904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4068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semanas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78040" y="21488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Diseña, prioriza, toma decisiones técnicas, escribe ADRs, hace QA cruzado.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26080"/>
            <a:ext cx="73152" cy="685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99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TypeScript senior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persona dedicada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49040" y="2926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40680" y="2926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semanas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78040" y="2926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demos siguiendo arquitectura. Pair con Jorge en piezas críticas.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03320"/>
            <a:ext cx="73152" cy="685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76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persona compartida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490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4068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semanas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78040" y="37033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automáticos, smoke testing de cada demo, validación con datos reales del cliente.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480560"/>
            <a:ext cx="73152" cy="685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537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4846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persona compartida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49040" y="4480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40680" y="4480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semanas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178040" y="448056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con el cliente, reportes semanales, control de hitos y entregables.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257800"/>
            <a:ext cx="73152" cy="685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330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NAI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5623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Edguitar + soporte Nutanix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49040" y="5257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puntual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40680" y="5257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hito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178040" y="525780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Dimensionamiento de hardware, configuración inicial NAI, soporte ante incidentes.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COSTOS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por demo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aproximado · 10 semanas calendario para los 5 demos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41148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19456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4608" y="219456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14416" y="219456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64224" y="219456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14032" y="219456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0" y="219456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13648" y="219456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63456" y="219456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113264" y="219456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863072" y="219456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651760"/>
            <a:ext cx="110642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01 — RAG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2651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2651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14416" y="2651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64224" y="2651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14032" y="2651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651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13648" y="2651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63456" y="2651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13264" y="2651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63072" y="2651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0520" y="2761488"/>
            <a:ext cx="2157984" cy="237744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solidFill>
            <a:srgbClr val="FAF8F4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02 — Comparator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0" y="3108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64608" y="3108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14416" y="3108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64224" y="3108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14032" y="3108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3108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13648" y="3108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63456" y="3108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13264" y="3108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3108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0136" y="3218688"/>
            <a:ext cx="2157984" cy="237744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03 — Corpus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0" y="35661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64608" y="35661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14416" y="35661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64224" y="35661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14032" y="35661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63840" y="35661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13648" y="35661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63456" y="35661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13264" y="35661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863072" y="35661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59752" y="3675888"/>
            <a:ext cx="2907792" cy="237744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58" name="Shape 56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solidFill>
            <a:srgbClr val="FAF8F4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04 — Agente SQL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114800" y="40233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64608" y="40233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614416" y="40233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64224" y="40233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14032" y="40233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40233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13648" y="40233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363456" y="40233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113264" y="40233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863072" y="40233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09560" y="4133088"/>
            <a:ext cx="3657600" cy="237744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71" name="Shape 69"/>
          <p:cNvSpPr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05 — Tutor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114800" y="44805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64608" y="44805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14416" y="44805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64224" y="44805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14032" y="44805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63840" y="44805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13648" y="44805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363456" y="44805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113264" y="44805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863072" y="44805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409176" y="4590288"/>
            <a:ext cx="2157984" cy="237744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84" name="Shape 82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solidFill>
            <a:srgbClr val="FAF8F4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cruzado + ajustes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4114800" y="4937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64608" y="4937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14416" y="4937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364224" y="4937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114032" y="4937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863840" y="4937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613648" y="4937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363456" y="4937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113264" y="4937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863072" y="49377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158984" y="5047488"/>
            <a:ext cx="1408176" cy="237744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97" name="Shape 95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31520" y="5394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producción NAI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114800" y="5394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864608" y="5394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614416" y="5394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364224" y="5394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114032" y="5394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863840" y="5394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613648" y="5394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363456" y="5394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113264" y="5394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863072" y="5394960"/>
            <a:ext cx="0" cy="457200"/>
          </a:xfrm>
          <a:prstGeom prst="line">
            <a:avLst/>
          </a:prstGeom>
          <a:noFill/>
          <a:ln w="3175">
            <a:solidFill>
              <a:srgbClr val="E5E7E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908792" y="5504688"/>
            <a:ext cx="658368" cy="237744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D8F0E6"/>
          </a:solidFill>
          <a:ln/>
        </p:spPr>
      </p:sp>
      <p:sp>
        <p:nvSpPr>
          <p:cNvPr id="111" name="Text 109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8–10 semanas calendario asumiendo equipo dedicado, decisiones del cliente sin bloqueos largos, acceso al hardware NAI desde la semana 8.</a:t>
            </a:r>
            <a:endParaRPr lang="en-US" sz="1150" dirty="0"/>
          </a:p>
        </p:txBody>
      </p:sp>
      <p:sp>
        <p:nvSpPr>
          <p:cNvPr id="112" name="Shape 11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COSTOS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operación mensual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cobra después de la puesta en producción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73152" cy="685800"/>
          </a:xfrm>
          <a:prstGeom prst="rect">
            <a:avLst/>
          </a:prstGeom>
          <a:solidFill>
            <a:srgbClr val="2A8F6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Edguitar dimensiona y cotiza según volumen.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0" y="21945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 por contrato Nutanix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71800"/>
            <a:ext cx="73152" cy="6858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de plataforma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355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Bugs, updates de dependencias, soporte L1, monitoreo.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0" y="2971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1.500 – 3.000 / mes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749040"/>
            <a:ext cx="73152" cy="6858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incrementales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133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nuevos, ajustes de UX, datasets adicionales.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0" y="37490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80 / hora (bolsa)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526280"/>
            <a:ext cx="73152" cy="685800"/>
          </a:xfrm>
          <a:prstGeom prst="rect">
            <a:avLst/>
          </a:prstGeom>
          <a:solidFill>
            <a:srgbClr val="2A8F6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variable de LLM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910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sobre NAI on-prem, ya cubierto por el hardware.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0" y="45262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303520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394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equivalente vía Anthropic API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5687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tokens, según volumen. Crece con cada usuario activo.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0" y="5303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300 – 2.000 / mes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COSTOS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NAI — estimación preliminar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con nota para Edguitar (confirma con specs reales Nutanix)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640080"/>
          </a:xfrm>
          <a:prstGeom prst="rect">
            <a:avLst/>
          </a:prstGeom>
          <a:solidFill>
            <a:srgbClr val="D8F0E6"/>
          </a:solidFill>
          <a:ln w="6350">
            <a:solidFill>
              <a:srgbClr val="43C1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94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página es un placeholder — los números finales del hardware los confirma Edguitar con el catálogo Nutanix vigente. Sirve para anclar la conversación de dimensionamiento.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2918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63240"/>
            <a:ext cx="3291840" cy="73152"/>
          </a:xfrm>
          <a:prstGeom prst="rect">
            <a:avLst/>
          </a:prstGeom>
          <a:solidFill>
            <a:srgbClr val="2A8F6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pequeña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&lt; 1.000 docs · 20–50 usuarios concurrentes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mínima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4361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NVIDIA L40S o equivalente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818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GB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074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5276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 SSD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5321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sugeridos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5733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/ Mistral 7B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3063240"/>
            <a:ext cx="32918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3063240"/>
            <a:ext cx="3291840" cy="73152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mediana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17720" y="3520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1K–5K docs · 50–200 usuarios concurrentes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7720" y="4361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NVIDIA L40S o 1 × H100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4617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17720" y="4818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GB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5074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5276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TB SSD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17720" y="55321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17720" y="5733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70B / Mixtral 8×7B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21040" y="3063240"/>
            <a:ext cx="32918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3063240"/>
            <a:ext cx="3291840" cy="73152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grande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03920" y="3520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5K+ docs · 200+ usuarios concurrentes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03920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03920" y="4361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H100 o A100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03920" y="4617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18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GB+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03920" y="5074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03920" y="5276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TB+ NVMe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03920" y="55321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03920" y="5733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70B o superior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COSTOS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y licencias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open source — cero costos de licencias adicionales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(frontend)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solidFill>
            <a:srgbClr val="FAF8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(backend)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(ORM)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solidFill>
            <a:srgbClr val="FAF8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License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OpenAI SDK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4480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(solo se paga el uso del modelo)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solidFill>
            <a:srgbClr val="FAF8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4937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browser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394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 con NVIDIA NIM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5394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Nutanix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69680" y="5394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Incluida en el contrato NAI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solidFill>
            <a:srgbClr val="D8F0E6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6126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pila tecnológica es open source o ya viene incluida en NAI. El cliente no recibe sorpresas de licencias después del primer año.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COSTOS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equipo del cliente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conocimiento para operación autónoma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48840"/>
            <a:ext cx="73152" cy="685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arquitectura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técnica para CIO / IT lead. Stack, decisiones, ADRs, flujo de un demo end-to-end.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2148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0" y="2148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6080"/>
            <a:ext cx="73152" cy="685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operación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a día: deploy, logs, backups, troubleshooting, agregar documentos al corpus.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2926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49840" y="2926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03320"/>
            <a:ext cx="73152" cy="685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94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entregada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069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ADRs, runbooks de deploy local y producción, guion de demo, README del repositorio.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3703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49840" y="3703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480560"/>
            <a:ext cx="73152" cy="685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72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primeras 4 semanas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846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incidentes prioritarios post-go-live. SLA de respuesta &lt; 24 horas hábiles.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44805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49840" y="44805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525780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257800"/>
            <a:ext cx="73152" cy="685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349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posterior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5623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termina el período de garantía, el cliente compra bolsa de horas según necesidad.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0" y="5257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 horas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149840" y="5257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80 / h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COSTOS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1 año — comparativo de tres opciones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5.000 alumnos usando chat con documentos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2918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329184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214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 — ChatGPT Enterprise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por usuario activo / mes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944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mensual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3538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$ 30 × usuario × mes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alumnos activos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$ 150.000 / mes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anual estimado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4727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$ 1.8 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532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al volumen de una universidad mediana.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2103120"/>
            <a:ext cx="32918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103120"/>
            <a:ext cx="329184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1214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B — API Anthropic propia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2377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similar a la nuestra + tokens cloud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17720" y="2743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(build)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17720" y="2944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$ 37–59 K una vez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17720" y="3337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mes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17720" y="3538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$ 500–2.000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3931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mínimo / hosting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1772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$ 200–500 / mes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17720" y="4526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anual estimado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17720" y="4727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$ 45–75 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17720" y="5532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variable crece con cada usuario activo.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21040" y="2103120"/>
            <a:ext cx="32918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2103120"/>
            <a:ext cx="3291840" cy="502920"/>
          </a:xfrm>
          <a:prstGeom prst="rect">
            <a:avLst/>
          </a:prstGeom>
          <a:solidFill>
            <a:srgbClr val="2A8F66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21214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C — NAI + esta plataforma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2377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· costo predecible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03920" y="2743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implementación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503920" y="2944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$ 37–59 K una vez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503920" y="3337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NAI / mes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503920" y="3538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 por contrato Nutanix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03920" y="3931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50392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$ 1.5–3 K / mes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503920" y="4526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anual estimado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503920" y="4727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$ 55–95 K + hardware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503920" y="5532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Predecible. Sin sorpresas por crecimiento de usuarios.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6263640"/>
            <a:ext cx="11064240" cy="18288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7" name="Shape 4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COSTOS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del proyecto y mitigaciones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 salir mal y cómo lo cubrimos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21945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NAI no disponible a tiempo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6517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continúa contra Anthropic API mock. Switch al hardware NAI en la última semana sin tocar código.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0" y="26517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11064240" cy="731520"/>
          </a:xfrm>
          <a:prstGeom prst="rect">
            <a:avLst/>
          </a:prstGeom>
          <a:solidFill>
            <a:srgbClr val="FAF8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83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open-source con calidad inferior a Sonnet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previo con prompts reales. Documentación de fallback a modelo más grande si es necesario.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0" y="33832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148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del cliente expuestos por bug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1148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inmutable + SQL guard + tests de penetración antes del go-live.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0" y="4114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solidFill>
            <a:srgbClr val="FAF8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846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lenta de usuarios institucionales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48463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+ onboarding guiado + métricas de uso por dashboard. Iteración de UX.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89920" y="4846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5778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pricing del proveedor de embeddings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55778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embeddings locales (sentence-transformers) está prevista en el roadmap Python.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789920" y="55778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 · CIERRE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modelo gana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razones para llevarse a la reunión con el comité directivo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2918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606040"/>
            <a:ext cx="914400" cy="914400"/>
          </a:xfrm>
          <a:prstGeom prst="ellipse">
            <a:avLst/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del cliente (estudiantes, contratos, papers de investigación) nunca salen del data center. Cero exposición a proveedores externos.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2286000"/>
            <a:ext cx="32918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2606040"/>
            <a:ext cx="914400" cy="914400"/>
          </a:xfrm>
          <a:prstGeom prst="ellipse">
            <a:avLst/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predecible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4251960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del hardware + OpEx mensual fijo. Sin tarifas por token a escala. La factura no crece con cada usuario activo nuevo.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21040" y="2286000"/>
            <a:ext cx="32918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2606040"/>
            <a:ext cx="914400" cy="914400"/>
          </a:xfrm>
          <a:prstGeom prst="ellipse">
            <a:avLst/>
          </a:prstGeom>
          <a:solidFill>
            <a:srgbClr val="D8F0E6"/>
          </a:solidFill>
          <a:ln w="12700">
            <a:solidFill>
              <a:srgbClr val="43C1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5496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95360" y="4251960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modelo open-source que quieras. Decide cuándo actualizar. Audita cada consulta. Los datos de entrenamiento son tuyos.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40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 · CIERRE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comerciales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compromiso según el momento del cliente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1463040" cy="118872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2377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One-pager + casos de uso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2788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2 páginas con arquitectura, casos de uso, contraste con cloud. Para clientes en fase exploratoria.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0" y="2194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64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520440"/>
            <a:ext cx="1463040" cy="1188720"/>
          </a:xfrm>
          <a:prstGeom prst="rect">
            <a:avLst/>
          </a:prstGeom>
          <a:solidFill>
            <a:srgbClr val="2A8F6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3703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técnica con IT del cliente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4560" y="4114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4h con CIO/IT lead: arquitectura, dimensionamiento NAI, demos en vivo con datos del cliente. Cierre de scope.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0" y="35204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1.500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846320"/>
            <a:ext cx="1463040" cy="118872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5029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con datos reales del cliente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194560" y="5440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de 2 semanas. Indexamos 50–100 documentos reales y mostramos los demos funcionando con sus datos. Acuerdo de confidencialidad firmado.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4846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6.000–9.000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320040"/>
            <a:ext cx="164592" cy="164592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 · CIERRE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típicas del cliente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listas para Edguitar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32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73152" cy="1828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317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· ¿Es mejor que ChatGPT?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El modelo es comparable — son los mismos modelos open-source que usan productos enterprise. La diferencia está en dónde corre y quién ve los datos. Para casos donde la información es sensible, no es funcionalidad: es gobernanza.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2194560"/>
            <a:ext cx="5532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2194560"/>
            <a:ext cx="73152" cy="1828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3317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· ¿Tengo que entrenar el modelo con mis datos?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834640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No. La técnica que usamos se llama RAG. En lugar de re-entrenar el modelo, le pasamos los documentos relevantes en cada pregunta. Indexar lleva minutos. Cero riesgo de olvidos.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532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06240"/>
            <a:ext cx="73152" cy="1828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434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· ¿Y si la respuesta está mal?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Cada respuesta cita los fragmentos exactos del documento original. El usuario verifica en el PDF. El sistema no se posiciona como autoridad final — es un acelerador de búsqueda y síntesis.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4206240"/>
            <a:ext cx="5532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4206240"/>
            <a:ext cx="73152" cy="18288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3434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· ¿En cuánto tiempo llega a producción?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4846320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8 a 10 semanas con datos reales del cliente. El primer demo funcional con sus documentos: 2 semanas desde el acceso al hardware NAI.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agenda con el cliente para la primera demo en vivo.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4846320" cy="155448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657600"/>
            <a:ext cx="91440" cy="155448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794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Edguitar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4617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 senior Nutanix · acceso al hardware NAI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3657600"/>
            <a:ext cx="4846320" cy="155448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3657600"/>
            <a:ext cx="91440" cy="1554480"/>
          </a:xfrm>
          <a:prstGeom prst="rect">
            <a:avLst/>
          </a:prstGeom>
          <a:solidFill>
            <a:srgbClr val="43C194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794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Quizamán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4617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 de soluciones · responsable del producto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github.com/georgenton/ai-demo-platform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pPr indent="0" marL="0">
              <a:buNone/>
            </a:pPr>
            <a:r>
              <a:rPr lang="en-US" sz="1200" b="1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ai-demo-platform-web-brown.vercel.app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62179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C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· AI Demo Platform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Demo Platform sobre Nutanix Enterprise AI</dc:title>
  <dc:subject>PptxGenJS Presentation</dc:subject>
  <dc:creator>Jorge Quizamán + Edguitar</dc:creator>
  <cp:lastModifiedBy>Jorge Quizamán + Edguitar</cp:lastModifiedBy>
  <cp:revision>1</cp:revision>
  <dcterms:created xsi:type="dcterms:W3CDTF">2026-05-29T03:18:45Z</dcterms:created>
  <dcterms:modified xsi:type="dcterms:W3CDTF">2026-05-29T03:18:45Z</dcterms:modified>
</cp:coreProperties>
</file>